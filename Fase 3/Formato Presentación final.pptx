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  <p:sldId id="263" r:id="rId9"/>
    <p:sldId id="269" r:id="rId10"/>
    <p:sldId id="270" r:id="rId11"/>
    <p:sldId id="265" r:id="rId12"/>
    <p:sldId id="267" r:id="rId13"/>
    <p:sldId id="268" r:id="rId14"/>
    <p:sldId id="266" r:id="rId1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45140C-C326-4DAA-A267-498AD5117D68}" type="doc">
      <dgm:prSet loTypeId="urn:microsoft.com/office/officeart/2005/8/layout/vList4" loCatId="picture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s-CL"/>
        </a:p>
      </dgm:t>
    </dgm:pt>
    <dgm:pt modelId="{78BFB295-8F5D-4286-B72B-79142F8F0E13}">
      <dgm:prSet phldrT="[Texto]"/>
      <dgm:spPr/>
      <dgm:t>
        <a:bodyPr/>
        <a:lstStyle/>
        <a:p>
          <a:r>
            <a:rPr lang="es-CL" dirty="0"/>
            <a:t>Diego Croma</a:t>
          </a:r>
        </a:p>
      </dgm:t>
    </dgm:pt>
    <dgm:pt modelId="{F1885FAB-61EC-4F80-98D0-72360031AF9F}" type="parTrans" cxnId="{2AD07198-D472-4B98-B6D5-5A730374E9A2}">
      <dgm:prSet/>
      <dgm:spPr/>
      <dgm:t>
        <a:bodyPr/>
        <a:lstStyle/>
        <a:p>
          <a:endParaRPr lang="es-CL"/>
        </a:p>
      </dgm:t>
    </dgm:pt>
    <dgm:pt modelId="{E88D0928-51D4-4670-8963-60ABBB193E13}" type="sibTrans" cxnId="{2AD07198-D472-4B98-B6D5-5A730374E9A2}">
      <dgm:prSet/>
      <dgm:spPr/>
      <dgm:t>
        <a:bodyPr/>
        <a:lstStyle/>
        <a:p>
          <a:endParaRPr lang="es-CL"/>
        </a:p>
      </dgm:t>
    </dgm:pt>
    <dgm:pt modelId="{D868444B-AE34-4422-A6A5-1F7D392D0C20}">
      <dgm:prSet phldrT="[Texto]"/>
      <dgm:spPr/>
      <dgm:t>
        <a:bodyPr/>
        <a:lstStyle/>
        <a:p>
          <a:r>
            <a:rPr lang="es-MX" dirty="0"/>
            <a:t>Jefe de proyecto</a:t>
          </a:r>
          <a:endParaRPr lang="es-CL" dirty="0"/>
        </a:p>
      </dgm:t>
    </dgm:pt>
    <dgm:pt modelId="{7DB88D83-6C3A-48C1-8CAD-0D11C3BEC35C}" type="parTrans" cxnId="{484B8A37-0122-4FF5-93D2-4A15DF521A17}">
      <dgm:prSet/>
      <dgm:spPr/>
      <dgm:t>
        <a:bodyPr/>
        <a:lstStyle/>
        <a:p>
          <a:endParaRPr lang="es-CL"/>
        </a:p>
      </dgm:t>
    </dgm:pt>
    <dgm:pt modelId="{74B9B1A5-94EB-40A9-BFF2-678501068FB8}" type="sibTrans" cxnId="{484B8A37-0122-4FF5-93D2-4A15DF521A17}">
      <dgm:prSet/>
      <dgm:spPr/>
      <dgm:t>
        <a:bodyPr/>
        <a:lstStyle/>
        <a:p>
          <a:endParaRPr lang="es-CL"/>
        </a:p>
      </dgm:t>
    </dgm:pt>
    <dgm:pt modelId="{2E221207-005F-49CB-81E1-6D036D64322B}">
      <dgm:prSet phldrT="[Texto]"/>
      <dgm:spPr/>
      <dgm:t>
        <a:bodyPr/>
        <a:lstStyle/>
        <a:p>
          <a:r>
            <a:rPr lang="es-CL" dirty="0"/>
            <a:t>Desarrollador completo de la plataforma</a:t>
          </a:r>
        </a:p>
      </dgm:t>
    </dgm:pt>
    <dgm:pt modelId="{3728DB5E-E904-481D-A1E5-49CF4AFFC0D3}" type="sibTrans" cxnId="{1C3272C9-C630-4D60-B76B-138907BB4D41}">
      <dgm:prSet/>
      <dgm:spPr/>
      <dgm:t>
        <a:bodyPr/>
        <a:lstStyle/>
        <a:p>
          <a:endParaRPr lang="es-CL"/>
        </a:p>
      </dgm:t>
    </dgm:pt>
    <dgm:pt modelId="{B200B6AA-AA2A-4CB8-80FF-4BB54938E8A5}" type="parTrans" cxnId="{1C3272C9-C630-4D60-B76B-138907BB4D41}">
      <dgm:prSet/>
      <dgm:spPr/>
      <dgm:t>
        <a:bodyPr/>
        <a:lstStyle/>
        <a:p>
          <a:endParaRPr lang="es-CL"/>
        </a:p>
      </dgm:t>
    </dgm:pt>
    <dgm:pt modelId="{6E1E561E-88C1-49C6-A3F7-DE4B9AD43273}" type="pres">
      <dgm:prSet presAssocID="{BE45140C-C326-4DAA-A267-498AD5117D68}" presName="linear" presStyleCnt="0">
        <dgm:presLayoutVars>
          <dgm:dir/>
          <dgm:resizeHandles val="exact"/>
        </dgm:presLayoutVars>
      </dgm:prSet>
      <dgm:spPr/>
    </dgm:pt>
    <dgm:pt modelId="{F70979D0-5925-4EC3-AD84-986E0EC7B0D8}" type="pres">
      <dgm:prSet presAssocID="{78BFB295-8F5D-4286-B72B-79142F8F0E13}" presName="comp" presStyleCnt="0"/>
      <dgm:spPr/>
    </dgm:pt>
    <dgm:pt modelId="{54FC4CB6-0791-48D3-B2C5-2E99B8AFCFF7}" type="pres">
      <dgm:prSet presAssocID="{78BFB295-8F5D-4286-B72B-79142F8F0E13}" presName="box" presStyleLbl="node1" presStyleIdx="0" presStyleCnt="1" custLinFactNeighborX="5318" custLinFactNeighborY="-12417"/>
      <dgm:spPr/>
    </dgm:pt>
    <dgm:pt modelId="{9A7E2690-DE9C-4572-9BE5-B8C9A3B8BBB3}" type="pres">
      <dgm:prSet presAssocID="{78BFB295-8F5D-4286-B72B-79142F8F0E13}" presName="img" presStyleLbl="fgImgPlace1" presStyleIdx="0" presStyleCnt="1"/>
      <dgm:spPr/>
    </dgm:pt>
    <dgm:pt modelId="{52D125D2-FCA7-4A2D-AB39-B6BD54F251F2}" type="pres">
      <dgm:prSet presAssocID="{78BFB295-8F5D-4286-B72B-79142F8F0E13}" presName="text" presStyleLbl="node1" presStyleIdx="0" presStyleCnt="1">
        <dgm:presLayoutVars>
          <dgm:bulletEnabled val="1"/>
        </dgm:presLayoutVars>
      </dgm:prSet>
      <dgm:spPr/>
    </dgm:pt>
  </dgm:ptLst>
  <dgm:cxnLst>
    <dgm:cxn modelId="{399BD705-2380-48A3-9C48-1D49A5A32D61}" type="presOf" srcId="{2E221207-005F-49CB-81E1-6D036D64322B}" destId="{52D125D2-FCA7-4A2D-AB39-B6BD54F251F2}" srcOrd="1" destOrd="2" presId="urn:microsoft.com/office/officeart/2005/8/layout/vList4"/>
    <dgm:cxn modelId="{D2B94F0C-C779-4AC1-87E4-35116A3DED02}" type="presOf" srcId="{78BFB295-8F5D-4286-B72B-79142F8F0E13}" destId="{54FC4CB6-0791-48D3-B2C5-2E99B8AFCFF7}" srcOrd="0" destOrd="0" presId="urn:microsoft.com/office/officeart/2005/8/layout/vList4"/>
    <dgm:cxn modelId="{484B8A37-0122-4FF5-93D2-4A15DF521A17}" srcId="{78BFB295-8F5D-4286-B72B-79142F8F0E13}" destId="{D868444B-AE34-4422-A6A5-1F7D392D0C20}" srcOrd="0" destOrd="0" parTransId="{7DB88D83-6C3A-48C1-8CAD-0D11C3BEC35C}" sibTransId="{74B9B1A5-94EB-40A9-BFF2-678501068FB8}"/>
    <dgm:cxn modelId="{7E8FC05E-FE02-4336-B1F8-3EAA05519A49}" type="presOf" srcId="{D868444B-AE34-4422-A6A5-1F7D392D0C20}" destId="{54FC4CB6-0791-48D3-B2C5-2E99B8AFCFF7}" srcOrd="0" destOrd="1" presId="urn:microsoft.com/office/officeart/2005/8/layout/vList4"/>
    <dgm:cxn modelId="{2AD07198-D472-4B98-B6D5-5A730374E9A2}" srcId="{BE45140C-C326-4DAA-A267-498AD5117D68}" destId="{78BFB295-8F5D-4286-B72B-79142F8F0E13}" srcOrd="0" destOrd="0" parTransId="{F1885FAB-61EC-4F80-98D0-72360031AF9F}" sibTransId="{E88D0928-51D4-4670-8963-60ABBB193E13}"/>
    <dgm:cxn modelId="{690A389C-25C1-485B-88F9-437236A47744}" type="presOf" srcId="{BE45140C-C326-4DAA-A267-498AD5117D68}" destId="{6E1E561E-88C1-49C6-A3F7-DE4B9AD43273}" srcOrd="0" destOrd="0" presId="urn:microsoft.com/office/officeart/2005/8/layout/vList4"/>
    <dgm:cxn modelId="{ECFD91A4-F44F-4C84-8B25-37DA0B249A1F}" type="presOf" srcId="{78BFB295-8F5D-4286-B72B-79142F8F0E13}" destId="{52D125D2-FCA7-4A2D-AB39-B6BD54F251F2}" srcOrd="1" destOrd="0" presId="urn:microsoft.com/office/officeart/2005/8/layout/vList4"/>
    <dgm:cxn modelId="{FE5360C5-555C-42B2-9E63-16D2D46F21B1}" type="presOf" srcId="{D868444B-AE34-4422-A6A5-1F7D392D0C20}" destId="{52D125D2-FCA7-4A2D-AB39-B6BD54F251F2}" srcOrd="1" destOrd="1" presId="urn:microsoft.com/office/officeart/2005/8/layout/vList4"/>
    <dgm:cxn modelId="{1C3272C9-C630-4D60-B76B-138907BB4D41}" srcId="{78BFB295-8F5D-4286-B72B-79142F8F0E13}" destId="{2E221207-005F-49CB-81E1-6D036D64322B}" srcOrd="1" destOrd="0" parTransId="{B200B6AA-AA2A-4CB8-80FF-4BB54938E8A5}" sibTransId="{3728DB5E-E904-481D-A1E5-49CF4AFFC0D3}"/>
    <dgm:cxn modelId="{A70C9FD5-2935-4C81-937A-B6C05F5E54BA}" type="presOf" srcId="{2E221207-005F-49CB-81E1-6D036D64322B}" destId="{54FC4CB6-0791-48D3-B2C5-2E99B8AFCFF7}" srcOrd="0" destOrd="2" presId="urn:microsoft.com/office/officeart/2005/8/layout/vList4"/>
    <dgm:cxn modelId="{DA463EE6-78DB-4E59-8099-EBA029F401B0}" type="presParOf" srcId="{6E1E561E-88C1-49C6-A3F7-DE4B9AD43273}" destId="{F70979D0-5925-4EC3-AD84-986E0EC7B0D8}" srcOrd="0" destOrd="0" presId="urn:microsoft.com/office/officeart/2005/8/layout/vList4"/>
    <dgm:cxn modelId="{2FE346D7-6685-4BD0-9465-988681234E35}" type="presParOf" srcId="{F70979D0-5925-4EC3-AD84-986E0EC7B0D8}" destId="{54FC4CB6-0791-48D3-B2C5-2E99B8AFCFF7}" srcOrd="0" destOrd="0" presId="urn:microsoft.com/office/officeart/2005/8/layout/vList4"/>
    <dgm:cxn modelId="{3671DC51-8308-4E14-B210-C8528BB18500}" type="presParOf" srcId="{F70979D0-5925-4EC3-AD84-986E0EC7B0D8}" destId="{9A7E2690-DE9C-4572-9BE5-B8C9A3B8BBB3}" srcOrd="1" destOrd="0" presId="urn:microsoft.com/office/officeart/2005/8/layout/vList4"/>
    <dgm:cxn modelId="{36512CCB-6AF4-4E79-94F2-3EAFE5E8BC48}" type="presParOf" srcId="{F70979D0-5925-4EC3-AD84-986E0EC7B0D8}" destId="{52D125D2-FCA7-4A2D-AB39-B6BD54F251F2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C4CB6-0791-48D3-B2C5-2E99B8AFCFF7}">
      <dsp:nvSpPr>
        <dsp:cNvPr id="0" name=""/>
        <dsp:cNvSpPr/>
      </dsp:nvSpPr>
      <dsp:spPr>
        <a:xfrm>
          <a:off x="0" y="0"/>
          <a:ext cx="7633494" cy="43505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t" anchorCtr="0">
          <a:noAutofit/>
        </a:bodyPr>
        <a:lstStyle/>
        <a:p>
          <a:pPr marL="0" lvl="0" indent="0" algn="l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5900" kern="1200" dirty="0"/>
            <a:t>Diego Croma</a:t>
          </a:r>
        </a:p>
        <a:p>
          <a:pPr marL="285750" lvl="1" indent="-285750" algn="l" defTabSz="2044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4600" kern="1200" dirty="0"/>
            <a:t>Jefe de proyecto</a:t>
          </a:r>
          <a:endParaRPr lang="es-CL" sz="4600" kern="1200" dirty="0"/>
        </a:p>
        <a:p>
          <a:pPr marL="285750" lvl="1" indent="-285750" algn="l" defTabSz="2044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4600" kern="1200" dirty="0"/>
            <a:t>Desarrollador completo de la plataforma</a:t>
          </a:r>
        </a:p>
      </dsp:txBody>
      <dsp:txXfrm>
        <a:off x="1961754" y="0"/>
        <a:ext cx="5671739" cy="4350554"/>
      </dsp:txXfrm>
    </dsp:sp>
    <dsp:sp modelId="{9A7E2690-DE9C-4572-9BE5-B8C9A3B8BBB3}">
      <dsp:nvSpPr>
        <dsp:cNvPr id="0" name=""/>
        <dsp:cNvSpPr/>
      </dsp:nvSpPr>
      <dsp:spPr>
        <a:xfrm>
          <a:off x="435055" y="435055"/>
          <a:ext cx="1526698" cy="3480443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4A916-2C2E-265E-D1A7-F8BA8BAA5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2B618F-FEF4-D0FB-4038-D93A262EA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43312A-AEFB-3177-E12B-386C4F429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29-11-2025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7C3C00-ADC0-ABB2-EF55-4D170DA0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B0C28A-E393-39C0-65D4-7252445F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3887044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7B6CD-9456-B138-ECD2-C8D7A666C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74D6B0-7AF3-685F-CEAB-5529E05E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F52F25-C2C6-7F7B-276E-37CD648AA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29-11-2025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947A73-C5CF-9FE2-967B-D4D866F9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ECAE93-9144-BF33-1401-DF6FFF6F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3929711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56A89-B019-96BD-5BAD-62AE0C3AC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2B60B4-76B8-D88B-5674-F86DC3670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DE800A-255F-4AE1-5E56-606A61B37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29-11-2025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FC92BF-9B9F-10CC-5BC8-BAC85DDB9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372357-062E-F22F-4B80-ED779DDD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426009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99D17-3BAA-B1F3-D450-274A02753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60F58E-6555-CC20-7FB5-60DB4AEFC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CAA47F-EB54-628D-A823-3A00718BE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90AFF8-D9BE-4C13-0483-E843C51CA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29-11-2025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CF5C03-2790-90EB-0D65-AA62820C0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91F526-CDE5-755B-4A3F-50F80776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2846858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9CF108-6B99-8CCE-C8FD-D995F996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0B922A-6156-2235-AA95-A8B8C02B3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40D8F2-325E-B2D8-EDDA-56DE9D1F2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58884F1-5F33-E36A-DEE4-9693FBE7D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DF08E0-1508-F512-337D-F5C8A5F0C3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53ED18-81E3-9782-22CD-40D6A1909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29-11-2025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8D2E67-9BFA-E800-3A7E-8900D96D4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56AEF8A-22F0-544A-1B96-40996F1A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3044769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0A5D8-AC89-1289-2F04-0814CB9B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703452B-17EB-394F-735B-5A921A58A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29-11-2025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0A54D4-94C4-7743-43A2-1A52792A4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9886359-BA16-2E60-D21D-C9E1AD88B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282747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9082406-6A57-2057-24EC-1A6C257A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29-11-2025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4737A7-3975-9225-3AAC-282F9F456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58996F-BDE4-86FA-BD9D-DFCAB914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3576406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B1326-48D6-CCCF-9030-3AC9A67CD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04BD84-4F55-3649-4756-7A4CE760D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F111F47-438E-ECB7-5D1F-CB07E54FD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1E9545-DD0E-6A0B-2B88-934785A7E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29-11-2025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3CD897-12AF-A56D-CB14-1B41012DE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257B85-275B-F539-96E6-BF6C3F487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351477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5BFE8-4F8E-9F77-F45C-B4D87029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3CB21F6-368F-6F50-5C0D-6BE2DDE1E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12122B-29C5-7F4E-7EFB-41EF277FC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7332B2-B78B-790B-184B-C7299CC4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29-11-2025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1CBB3B-17B4-113F-AA5B-E804167AD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8A1FFA-A66B-F32D-E3CE-2337B07F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6603574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A4049-BEF3-0AFD-A19B-45FF1D820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FD3394-1BB2-4A78-E0C2-B81E3B0A0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B1E014-02B1-2EA8-C324-69C06571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29-11-2025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D9E46F-A5FD-E000-2817-06E54BC7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F151D9-94A1-87E1-B673-4D3D316B9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5804739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B72A6E5-A0E4-586A-8BAE-08F39AC9E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C75B9-2362-53B4-3282-7D8A22F06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97AA35-3C24-08C9-2992-BE0C70C5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29-11-2025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103D78-DCDD-276E-7575-A1992D70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60B15A-BAF6-5EBF-7331-0AFFFFAB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3337686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48B6D4E-E3C2-3792-E3C4-2CBC2E052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82E89E-FB21-817B-8050-7AD81F9CE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A1C48C-F8B6-B30A-3815-D7ADD14FF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704C8-43E3-4F4F-BE90-356A640D5754}" type="datetimeFigureOut">
              <a:rPr lang="es-CL" smtClean="0"/>
              <a:t>29-11-2025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9214F-88E2-1045-9D0B-C2ECD481C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38CA17-DD6E-139F-6ED9-FAD83BB72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670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PROYECTO “</a:t>
            </a:r>
            <a:r>
              <a:rPr lang="es-MX" sz="4400" dirty="0" err="1"/>
              <a:t>AtrilesCroma</a:t>
            </a:r>
            <a:r>
              <a:rPr lang="es-MX" sz="4400" dirty="0"/>
              <a:t>”</a:t>
            </a:r>
          </a:p>
          <a:p>
            <a:pPr algn="ctr"/>
            <a:r>
              <a:rPr lang="es-MX" sz="2400" dirty="0"/>
              <a:t>PRESENTACIÓN FINAL CAPSTONE</a:t>
            </a: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239196319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CD98BAAD-E67E-3FB9-220F-BD3AA3645F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551857"/>
              </p:ext>
            </p:extLst>
          </p:nvPr>
        </p:nvGraphicFramePr>
        <p:xfrm>
          <a:off x="4121026" y="1710819"/>
          <a:ext cx="7633494" cy="4350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AtrilesCroma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INTEGRANTES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81598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AtrilesCroma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DESCRIPCIÓN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CB288BD-84B1-DF16-6004-32D5F8A61FF7}"/>
              </a:ext>
            </a:extLst>
          </p:cNvPr>
          <p:cNvSpPr/>
          <p:nvPr/>
        </p:nvSpPr>
        <p:spPr>
          <a:xfrm>
            <a:off x="714909" y="2169769"/>
            <a:ext cx="4348705" cy="4205394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Problema o dolor</a:t>
            </a:r>
          </a:p>
          <a:p>
            <a:pPr lvl="0" algn="ctr"/>
            <a:endParaRPr lang="es-MX" u="sng" dirty="0"/>
          </a:p>
          <a:p>
            <a:pPr algn="just"/>
            <a:endParaRPr lang="es-CL" sz="1800" dirty="0"/>
          </a:p>
          <a:p>
            <a:pPr lvl="0" algn="ctr"/>
            <a:r>
              <a:rPr lang="es-MX" dirty="0"/>
              <a:t>Las microempresas que venden productos personalizados, como atriles, no cuentan con una plataforma que permita mostrar su catálogo de manera profesional, gestionar pedidos y recibir solicitudes específicas de personalización. Esto limita la visibilidad del negocio, dificulta la organización interna y genera demoras en la comunicación con los clientes.</a:t>
            </a:r>
            <a:endParaRPr lang="es-CL" sz="1800" u="sng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DC84C5C-77A0-B2A2-F0BB-8A7713B865EA}"/>
              </a:ext>
            </a:extLst>
          </p:cNvPr>
          <p:cNvSpPr/>
          <p:nvPr/>
        </p:nvSpPr>
        <p:spPr>
          <a:xfrm>
            <a:off x="6912079" y="2177325"/>
            <a:ext cx="4348705" cy="4311747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Propuesta de solución</a:t>
            </a:r>
          </a:p>
          <a:p>
            <a:pPr lvl="0" algn="just"/>
            <a:endParaRPr lang="es-MX" dirty="0"/>
          </a:p>
          <a:p>
            <a:pPr algn="ctr"/>
            <a:r>
              <a:rPr lang="es-MX" dirty="0"/>
              <a:t>Desarrollar una plataforma web funcional que permita:</a:t>
            </a:r>
          </a:p>
          <a:p>
            <a:pPr algn="ctr"/>
            <a:r>
              <a:rPr lang="es-MX" dirty="0"/>
              <a:t>Publicar productos ordenados por categorías.</a:t>
            </a:r>
          </a:p>
          <a:p>
            <a:pPr algn="ctr"/>
            <a:r>
              <a:rPr lang="es-MX" dirty="0"/>
              <a:t>Gestionar pedidos mediante un flujo automatizado.</a:t>
            </a:r>
          </a:p>
          <a:p>
            <a:pPr algn="ctr"/>
            <a:r>
              <a:rPr lang="es-MX" dirty="0"/>
              <a:t>Recibir solicitudes de cotización personalizada.</a:t>
            </a:r>
          </a:p>
          <a:p>
            <a:pPr algn="ctr"/>
            <a:r>
              <a:rPr lang="es-MX" dirty="0"/>
              <a:t>Notificar automáticamente a clientes y administrador vía correo.</a:t>
            </a:r>
          </a:p>
          <a:p>
            <a:pPr algn="ctr"/>
            <a:r>
              <a:rPr lang="es-MX" dirty="0"/>
              <a:t>Organizar los pedidos y productos desde un panel centralizado.</a:t>
            </a:r>
          </a:p>
          <a:p>
            <a:pPr lvl="0" algn="just"/>
            <a:endParaRPr lang="es-CL" sz="1800" dirty="0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E4B09E7F-FBE6-31BF-0C0F-DD32DBE05724}"/>
              </a:ext>
            </a:extLst>
          </p:cNvPr>
          <p:cNvSpPr/>
          <p:nvPr/>
        </p:nvSpPr>
        <p:spPr>
          <a:xfrm>
            <a:off x="5456903" y="3736258"/>
            <a:ext cx="1140542" cy="757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57307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AtrilesCroma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 General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733B57D9-BF13-9372-D021-14655CF00C4C}"/>
              </a:ext>
            </a:extLst>
          </p:cNvPr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Objetivos Específicos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8D4A171-2FE3-5173-34E6-9DC3D74E7376}"/>
              </a:ext>
            </a:extLst>
          </p:cNvPr>
          <p:cNvSpPr/>
          <p:nvPr/>
        </p:nvSpPr>
        <p:spPr>
          <a:xfrm>
            <a:off x="614515" y="2040571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Diseñar y desarrollar una plataforma web que permita gestionar productos, pedidos y cotizaciones, optimizando el proceso de venta y comunicación con el cliente.</a:t>
            </a:r>
            <a:endParaRPr lang="es-CL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E63425F-86F4-531E-E0F5-7A349604A51E}"/>
              </a:ext>
            </a:extLst>
          </p:cNvPr>
          <p:cNvSpPr/>
          <p:nvPr/>
        </p:nvSpPr>
        <p:spPr>
          <a:xfrm>
            <a:off x="614514" y="4732407"/>
            <a:ext cx="10962967" cy="166477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A05B8C13-0C5D-5522-F2A3-B96372E0F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3808" y="4642854"/>
            <a:ext cx="850745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US" altLang="es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Implementar un catálogo funcional con categorías, detalles y múltiples productos.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US" altLang="es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Configurar un flujo de compra mediante </a:t>
            </a:r>
            <a:r>
              <a:rPr kumimoji="0" lang="es-US" altLang="es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WooCommerce</a:t>
            </a:r>
            <a:r>
              <a:rPr kumimoji="0" lang="es-US" altLang="es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US" altLang="es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Implementar un formulario de cotización con validación.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US" altLang="es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Configurar el envío de notificaciones automáticas por correo.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US" altLang="es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Crear roles de usuario (Cliente / Shop Manager) con permisos adecuados.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US" altLang="es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Realizar pruebas funcionales del sistema e integrar evidencias.</a:t>
            </a:r>
          </a:p>
        </p:txBody>
      </p:sp>
    </p:spTree>
    <p:extLst>
      <p:ext uri="{BB962C8B-B14F-4D97-AF65-F5344CB8AC3E}">
        <p14:creationId xmlns:p14="http://schemas.microsoft.com/office/powerpoint/2010/main" val="27176697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AtrilesCroma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Alcances y limitaciones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6">
            <a:extLst>
              <a:ext uri="{FF2B5EF4-FFF2-40B4-BE49-F238E27FC236}">
                <a16:creationId xmlns:a16="http://schemas.microsoft.com/office/drawing/2014/main" id="{D66B223B-5FB7-7A8F-B1E8-E9D4151EC6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02074"/>
            <a:ext cx="5007835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Alcances: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Catálogo de productos organizado en categorías.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Formulario para cotización personalizada.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Gestión de pedidos: recibido, procesando, completado.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Notificaciones automáticas por correo (cliente y administrador).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Panel administrador con gestión de productos y pedidos.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 “Shop Manager” para apoyar en la operación.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Evidencias completas de pruebas funcionales.</a:t>
            </a: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C6986095-F7FA-9644-5E9C-5DF5D3056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FD8D6E7E-416D-3EC4-701A-AFA13F228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9334" y="2078986"/>
            <a:ext cx="530116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Limitaciones: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incluye integración con ERP.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contempla métodos de pago reales (solo modo prueba).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se integra logística de despacho.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se implementan filtros avanzados personalizados (opcional).</a:t>
            </a:r>
          </a:p>
        </p:txBody>
      </p:sp>
    </p:spTree>
    <p:extLst>
      <p:ext uri="{BB962C8B-B14F-4D97-AF65-F5344CB8AC3E}">
        <p14:creationId xmlns:p14="http://schemas.microsoft.com/office/powerpoint/2010/main" val="329995646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AtrilesCroma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Metodología de trabajo para el desarrollo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E3A8BD09-D7A3-6186-1C6E-99E3F12D8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4936" y="3024689"/>
            <a:ext cx="637450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US" altLang="es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Análisis y levantamiento de requerimientos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US" altLang="es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Diseño de arquitectura y modelo de datos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US" altLang="es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Desarrollo del sistema (configuración WordPress y módulos)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US" altLang="es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Pruebas funcionales del sistema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US" altLang="es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Documentación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US" altLang="es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Presentación final</a:t>
            </a:r>
          </a:p>
        </p:txBody>
      </p:sp>
    </p:spTree>
    <p:extLst>
      <p:ext uri="{BB962C8B-B14F-4D97-AF65-F5344CB8AC3E}">
        <p14:creationId xmlns:p14="http://schemas.microsoft.com/office/powerpoint/2010/main" val="396419974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AtrilesCroma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Cronograma para el desarrollo del proyecto</a:t>
            </a:r>
          </a:p>
          <a:p>
            <a:pPr algn="ctr"/>
            <a:r>
              <a:rPr lang="es-MX" sz="1600" dirty="0">
                <a:solidFill>
                  <a:schemeClr val="bg2">
                    <a:lumMod val="50000"/>
                  </a:schemeClr>
                </a:solidFill>
              </a:rPr>
              <a:t>* Utilizar cronograma de inicio, indicando el cumplimiento al término del proyecto </a:t>
            </a:r>
            <a:endParaRPr lang="es-CL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BB5CADE-DDA2-A4F7-629E-7AEEB49F5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403319"/>
              </p:ext>
            </p:extLst>
          </p:nvPr>
        </p:nvGraphicFramePr>
        <p:xfrm>
          <a:off x="1114501" y="2048208"/>
          <a:ext cx="10235372" cy="2964817"/>
        </p:xfrm>
        <a:graphic>
          <a:graphicData uri="http://schemas.openxmlformats.org/drawingml/2006/table">
            <a:tbl>
              <a:tblPr firstRow="1" firstCol="1" bandRow="1"/>
              <a:tblGrid>
                <a:gridCol w="1245540">
                  <a:extLst>
                    <a:ext uri="{9D8B030D-6E8A-4147-A177-3AD203B41FA5}">
                      <a16:colId xmlns:a16="http://schemas.microsoft.com/office/drawing/2014/main" val="1385875515"/>
                    </a:ext>
                  </a:extLst>
                </a:gridCol>
                <a:gridCol w="494161">
                  <a:extLst>
                    <a:ext uri="{9D8B030D-6E8A-4147-A177-3AD203B41FA5}">
                      <a16:colId xmlns:a16="http://schemas.microsoft.com/office/drawing/2014/main" val="3026825544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3982458150"/>
                    </a:ext>
                  </a:extLst>
                </a:gridCol>
                <a:gridCol w="484940">
                  <a:extLst>
                    <a:ext uri="{9D8B030D-6E8A-4147-A177-3AD203B41FA5}">
                      <a16:colId xmlns:a16="http://schemas.microsoft.com/office/drawing/2014/main" val="2813336322"/>
                    </a:ext>
                  </a:extLst>
                </a:gridCol>
                <a:gridCol w="484940">
                  <a:extLst>
                    <a:ext uri="{9D8B030D-6E8A-4147-A177-3AD203B41FA5}">
                      <a16:colId xmlns:a16="http://schemas.microsoft.com/office/drawing/2014/main" val="666810208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441682826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1853034618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161666760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2597728732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3367593723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1610561930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4078685469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1033199576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3244852290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2661357519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1629908258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2147780406"/>
                    </a:ext>
                  </a:extLst>
                </a:gridCol>
                <a:gridCol w="140136">
                  <a:extLst>
                    <a:ext uri="{9D8B030D-6E8A-4147-A177-3AD203B41FA5}">
                      <a16:colId xmlns:a16="http://schemas.microsoft.com/office/drawing/2014/main" val="2368806540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3867265020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3959863927"/>
                    </a:ext>
                  </a:extLst>
                </a:gridCol>
                <a:gridCol w="140136">
                  <a:extLst>
                    <a:ext uri="{9D8B030D-6E8A-4147-A177-3AD203B41FA5}">
                      <a16:colId xmlns:a16="http://schemas.microsoft.com/office/drawing/2014/main" val="366369285"/>
                    </a:ext>
                  </a:extLst>
                </a:gridCol>
              </a:tblGrid>
              <a:tr h="524466"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Actividad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283734"/>
                  </a:ext>
                </a:extLst>
              </a:tr>
              <a:tr h="540519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4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5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6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7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8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9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10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14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15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16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17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18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616602"/>
                  </a:ext>
                </a:extLst>
              </a:tr>
              <a:tr h="64695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MX" sz="1100" dirty="0"/>
                        <a:t>Fase 1 (S1–S7): Análisis y Diseño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018220"/>
                  </a:ext>
                </a:extLst>
              </a:tr>
              <a:tr h="54051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MX" sz="1100" dirty="0"/>
                        <a:t>Fase 2 (S8–S16): Desarrollo y Pruebas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1361947"/>
                  </a:ext>
                </a:extLst>
              </a:tr>
              <a:tr h="5244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s-MX" sz="1100" dirty="0"/>
                        <a:t>Fase 3 (S17–S18): Cierre del Proyecto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3495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431338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AtrilesCroma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Arquitectura del software</a:t>
            </a:r>
          </a:p>
          <a:p>
            <a:pPr algn="ctr"/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*Presentar esquema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C3EA53FB-4AEC-58B4-F4BE-73D5CD9FE5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97589"/>
            <a:ext cx="12192000" cy="166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49146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AtrilesCroma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Modelo de datos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BE18518F-89A8-A6C5-46B0-8AFAB3B410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763" y="2212767"/>
            <a:ext cx="9864117" cy="4276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457618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AtrilesCroma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Tecnologías utilizadas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B425C046-21F0-AFF2-165F-C2F25EAF7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9530" y="2518739"/>
            <a:ext cx="420499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US" altLang="es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WordPress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US" altLang="es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WooCommerce</a:t>
            </a:r>
            <a:endParaRPr kumimoji="0" lang="es-US" altLang="es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US" altLang="es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Contact</a:t>
            </a:r>
            <a:r>
              <a:rPr kumimoji="0" lang="es-US" altLang="es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US" altLang="es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</a:t>
            </a:r>
            <a:r>
              <a:rPr kumimoji="0" lang="es-US" altLang="es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7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US" altLang="es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WP Mail SMTP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US" altLang="es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PHP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US" altLang="es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US" altLang="es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 personalizado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US" altLang="es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Theme</a:t>
            </a:r>
            <a:r>
              <a:rPr kumimoji="0" lang="es-US" altLang="es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Astra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US" altLang="es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Herramientas de pruebas y capturas</a:t>
            </a:r>
          </a:p>
        </p:txBody>
      </p:sp>
    </p:spTree>
    <p:extLst>
      <p:ext uri="{BB962C8B-B14F-4D97-AF65-F5344CB8AC3E}">
        <p14:creationId xmlns:p14="http://schemas.microsoft.com/office/powerpoint/2010/main" val="340536874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DEMOSTRACIÓN DEL RESULTADO DEL PROYECTO</a:t>
            </a:r>
          </a:p>
          <a:p>
            <a:pPr algn="ctr"/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*Exposición del sistema</a:t>
            </a:r>
            <a:endParaRPr lang="es-CL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17468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Resultados obtenidos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18DE50-B833-F91C-3B42-6CBDF6CDC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8003" y="2694729"/>
            <a:ext cx="438453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Plataforma 100% funcional.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Gestión de productos y pedidos lista.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Notificaciones de correo operativas.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Roles configurados.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Pruebas completas y documentadas.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Interfaz limpia, ordenada y navegable.</a:t>
            </a:r>
          </a:p>
        </p:txBody>
      </p:sp>
    </p:spTree>
    <p:extLst>
      <p:ext uri="{BB962C8B-B14F-4D97-AF65-F5344CB8AC3E}">
        <p14:creationId xmlns:p14="http://schemas.microsoft.com/office/powerpoint/2010/main" val="2904893737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Obstáculos presentados durante el desarrollo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C8BC48-A767-058A-A6B1-2800174E7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1105" y="2987303"/>
            <a:ext cx="739817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Ajustes del tema y CSS para que el catálogo se vea correctamente.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Integración y validación del formulario de cotización.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Configuración del envío de correos.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Ajustes del usuario Shop Manager y revisiones de permisos.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US" altLang="es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Organización de pruebas y evidencias.</a:t>
            </a:r>
          </a:p>
        </p:txBody>
      </p:sp>
    </p:spTree>
    <p:extLst>
      <p:ext uri="{BB962C8B-B14F-4D97-AF65-F5344CB8AC3E}">
        <p14:creationId xmlns:p14="http://schemas.microsoft.com/office/powerpoint/2010/main" val="1266268508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PREGUNTAS DE LA COMISIÓN</a:t>
            </a:r>
          </a:p>
        </p:txBody>
      </p:sp>
    </p:spTree>
    <p:extLst>
      <p:ext uri="{BB962C8B-B14F-4D97-AF65-F5344CB8AC3E}">
        <p14:creationId xmlns:p14="http://schemas.microsoft.com/office/powerpoint/2010/main" val="415807973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680</Words>
  <Application>Microsoft Office PowerPoint</Application>
  <PresentationFormat>Panorámica</PresentationFormat>
  <Paragraphs>173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Gerardo Galan Cruz</dc:creator>
  <cp:lastModifiedBy>DIEGO NICOLAS CROMA RIVERA</cp:lastModifiedBy>
  <cp:revision>2</cp:revision>
  <dcterms:created xsi:type="dcterms:W3CDTF">2023-10-28T21:12:11Z</dcterms:created>
  <dcterms:modified xsi:type="dcterms:W3CDTF">2025-11-29T18:29:59Z</dcterms:modified>
</cp:coreProperties>
</file>